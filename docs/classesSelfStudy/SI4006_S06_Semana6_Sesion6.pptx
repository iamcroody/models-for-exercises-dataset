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36576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SI4006 · SEMANA 6 · SESIÓN 06 · 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</a:pPr>
            <a:r>
              <a:rPr sz="5600" b="1">
                <a:solidFill>
                  <a:srgbClr val="FFFFFF"/>
                </a:solidFill>
                <a:latin typeface="Calibri"/>
              </a:rPr>
              <a:t>¿Quién juzga</a:t>
            </a:r>
          </a:p>
          <a:p>
            <a:pPr algn="l">
              <a:lnSpc>
                <a:spcPct val="96000"/>
              </a:lnSpc>
            </a:pPr>
            <a:r>
              <a:rPr sz="5600" b="1">
                <a:solidFill>
                  <a:srgbClr val="E6007E"/>
                </a:solidFill>
                <a:latin typeface="Calibri"/>
              </a:rPr>
              <a:t>al juez</a:t>
            </a:r>
            <a:r>
              <a:rPr sz="56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48056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 i="0">
                <a:solidFill>
                  <a:srgbClr val="DFE7F2"/>
                </a:solidFill>
                <a:latin typeface="Calibri"/>
              </a:rPr>
              <a:t>La semana pasada llegamos a algo incómodo: ninguna métrica, por sí sola, alcanza para decir si un sistema es bueno. Hoy sumamos un juez —otro modelo que califica— y la mirada humana, y con eso armamos el harness de tres dimensiones que entregan como M2.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9893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89320"/>
            <a:ext cx="18653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3A82"/>
                </a:solidFill>
                <a:latin typeface="Consolas"/>
              </a:rPr>
              <a:t>LLM-AS-A-JUDGE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598932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5989320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3A82"/>
                </a:solidFill>
                <a:latin typeface="Consolas"/>
              </a:rPr>
              <a:t>SESGOS DEL JUEZ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5192" y="598932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5989320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SU HARNESS = 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01 / 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75704"/>
            <a:ext cx="369445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LO QUE HAREMOS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4202E"/>
                </a:solidFill>
                <a:latin typeface="Calibri"/>
              </a:rPr>
              <a:t>La sesión de hoy.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050919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2414015"/>
            <a:ext cx="146304" cy="347472"/>
          </a:xfrm>
          <a:prstGeom prst="roundRect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2331720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02E"/>
                </a:solidFill>
                <a:latin typeface="Calibri"/>
              </a:rPr>
              <a:t>Recap: por qué una métrica no basta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953512"/>
            <a:ext cx="1050919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3035808"/>
            <a:ext cx="146304" cy="347472"/>
          </a:xfrm>
          <a:prstGeom prst="round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953512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02E"/>
                </a:solidFill>
                <a:latin typeface="Calibri"/>
              </a:rPr>
              <a:t>LLM-as-a-judge: rúbrica y setup  🔄 Lab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575304"/>
            <a:ext cx="1050919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" y="3657600"/>
            <a:ext cx="146304" cy="347472"/>
          </a:xfrm>
          <a:prstGeom prst="roundRect">
            <a:avLst/>
          </a:prstGeom>
          <a:solidFill>
            <a:srgbClr val="7A4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3575304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02E"/>
                </a:solidFill>
                <a:latin typeface="Calibri"/>
              </a:rPr>
              <a:t>Los sesgos del juez y cómo mitigarlos  🔄 Lab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197096"/>
            <a:ext cx="1050919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" y="4279392"/>
            <a:ext cx="146304" cy="347472"/>
          </a:xfrm>
          <a:prstGeom prst="round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4197096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02E"/>
                </a:solidFill>
                <a:latin typeface="Calibri"/>
              </a:rPr>
              <a:t>Evaluación humana e inter-rater agreement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818888"/>
            <a:ext cx="1050919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" y="4901183"/>
            <a:ext cx="146304" cy="347472"/>
          </a:xfrm>
          <a:prstGeom prst="roundRect">
            <a:avLst/>
          </a:prstGeom>
          <a:solidFill>
            <a:srgbClr val="E4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4818888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02E"/>
                </a:solidFill>
                <a:latin typeface="Calibri"/>
              </a:rPr>
              <a:t>Datasets sintéticos y adversariales · red-teaming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440679"/>
            <a:ext cx="1050919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" y="5522975"/>
            <a:ext cx="146304" cy="347472"/>
          </a:xfrm>
          <a:prstGeom prst="roundRect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5440679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02E"/>
                </a:solidFill>
                <a:latin typeface="Calibri"/>
              </a:rPr>
              <a:t>El harness de 3 dimensiones + scorecard  🔄 Lab C · entrega 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02 / 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75704"/>
            <a:ext cx="738890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7432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BLOQUE 01 · RECAP Y EL PROBLEMA DEL JUEZ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241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Medir no basta.</a:t>
            </a:r>
          </a:p>
          <a:p>
            <a:pPr algn="l">
              <a:lnSpc>
                <a:spcPct val="98000"/>
              </a:lnSpc>
            </a:pPr>
            <a:r>
              <a:rPr sz="5800" b="1">
                <a:solidFill>
                  <a:srgbClr val="E6007E"/>
                </a:solidFill>
                <a:latin typeface="Calibri"/>
              </a:rPr>
              <a:t>Hay que juzgar.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FE7F2"/>
                </a:solidFill>
                <a:latin typeface="Calibri"/>
              </a:rPr>
              <a:t>Por qué necesitamos un juez para lo que ninguna métrica automática captura.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03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108335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RECAP · DÓNDE ESTAMOS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4202E"/>
                </a:solidFill>
                <a:latin typeface="Calibri"/>
              </a:rPr>
              <a:t>De dónde venimos.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7" y="2148840"/>
            <a:ext cx="2421559" cy="1005840"/>
          </a:xfrm>
          <a:prstGeom prst="roundRect">
            <a:avLst>
              <a:gd name="adj" fmla="val 14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48840"/>
            <a:ext cx="242155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Métrica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clásica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2807" y="2148840"/>
            <a:ext cx="274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A6B80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7127" y="2148840"/>
            <a:ext cx="2421559" cy="1005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B3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7127" y="2148840"/>
            <a:ext cx="242155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3A82"/>
                </a:solidFill>
                <a:latin typeface="Calibri"/>
              </a:rPr>
              <a:t>¿se engaña?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8687" y="2148840"/>
            <a:ext cx="274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A6B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48840"/>
            <a:ext cx="2421559" cy="1005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2148840"/>
            <a:ext cx="242155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6007E"/>
                </a:solidFill>
                <a:latin typeface="Calibri"/>
              </a:rPr>
              <a:t>+ Juez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6007E"/>
                </a:solidFill>
                <a:latin typeface="Calibri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4567" y="2148840"/>
            <a:ext cx="274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A6B80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8887" y="2148840"/>
            <a:ext cx="2421559" cy="1005840"/>
          </a:xfrm>
          <a:prstGeom prst="roundRect">
            <a:avLst>
              <a:gd name="adj" fmla="val 14000"/>
            </a:avLst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8887" y="2148840"/>
            <a:ext cx="242155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+ Humano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703320"/>
            <a:ext cx="10509199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977639"/>
            <a:ext cx="97776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14202E"/>
                </a:solidFill>
                <a:latin typeface="Calibri"/>
              </a:rPr>
              <a:t>La semana pasada lo vimos en el lab: </a:t>
            </a:r>
            <a:r>
              <a:rPr sz="1650" b="1">
                <a:solidFill>
                  <a:srgbClr val="E6007E"/>
                </a:solidFill>
                <a:latin typeface="Calibri"/>
              </a:rPr>
              <a:t>BLEU —que solo cuenta cuántas palabras coinciden— llegó a premiar la respuesta equivocada</a:t>
            </a:r>
            <a:r>
              <a:rPr sz="1650" b="0">
                <a:solidFill>
                  <a:srgbClr val="14202E"/>
                </a:solidFill>
                <a:latin typeface="Calibri"/>
              </a:rPr>
              <a:t>, y la perplexity nos dice si el texto suena fluido, no si es verdad.</a:t>
            </a:r>
          </a:p>
          <a:p>
            <a:pPr algn="l">
              <a:lnSpc>
                <a:spcPct val="118000"/>
              </a:lnSpc>
            </a:pPr>
            <a:r>
              <a:rPr sz="1650" b="0">
                <a:solidFill>
                  <a:srgbClr val="14202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50" b="0">
                <a:solidFill>
                  <a:srgbClr val="14202E"/>
                </a:solidFill>
                <a:latin typeface="Calibri"/>
              </a:rPr>
              <a:t>Por eso hoy sumamos dos miradas que sí </a:t>
            </a:r>
            <a:r>
              <a:rPr sz="1650" b="1">
                <a:solidFill>
                  <a:srgbClr val="14202E"/>
                </a:solidFill>
                <a:latin typeface="Calibri"/>
              </a:rPr>
              <a:t>juzgan la calidad</a:t>
            </a:r>
            <a:r>
              <a:rPr sz="1650" b="0">
                <a:solidFill>
                  <a:srgbClr val="14202E"/>
                </a:solidFill>
                <a:latin typeface="Calibri"/>
              </a:rPr>
              <a:t>: un juez que es otro modelo (escala como una máquina) y la persona (que sigue siendo el patrón oro).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04 / 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477781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EL PROBLEMA DE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No podemos leer </a:t>
            </a:r>
            <a:r>
              <a:rPr sz="3200" b="1">
                <a:solidFill>
                  <a:srgbClr val="FFC21A"/>
                </a:solidFill>
                <a:latin typeface="Calibri"/>
              </a:rPr>
              <a:t>500 respuestas</a:t>
            </a:r>
            <a:r>
              <a:rPr sz="3200" b="1">
                <a:solidFill>
                  <a:srgbClr val="FFFFFF"/>
                </a:solidFill>
                <a:latin typeface="Calibri"/>
              </a:rPr>
              <a:t> a mano.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51760"/>
            <a:ext cx="3259226" cy="246888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 w="127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926079"/>
            <a:ext cx="27105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B5A5"/>
                </a:solidFill>
                <a:latin typeface="Consolas"/>
              </a:rPr>
              <a:t>A 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236975"/>
            <a:ext cx="27105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El patrón oro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977639"/>
            <a:ext cx="271058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DB0C9"/>
                </a:solidFill>
                <a:latin typeface="Calibri"/>
              </a:rPr>
              <a:t>Evaluar leyendo cada respuesta es lo más confiable, pero no escala a cientos de casos… ¿y los costos?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6234" y="2651760"/>
            <a:ext cx="3259226" cy="246888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 w="12700">
            <a:solidFill>
              <a:srgbClr val="0B3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0554" y="2926079"/>
            <a:ext cx="27105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3A82"/>
                </a:solidFill>
                <a:latin typeface="Consolas"/>
              </a:rPr>
              <a:t>UNA MÉTRICA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0554" y="3236975"/>
            <a:ext cx="27105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Escala, no entiende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0554" y="3977639"/>
            <a:ext cx="271058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DB0C9"/>
                </a:solidFill>
                <a:latin typeface="Calibri"/>
              </a:rPr>
              <a:t>Una métrica automática corre en segundos, pero no entiende si la respuesta es correcta o útil.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2651760"/>
            <a:ext cx="3259226" cy="246888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5540" y="2926079"/>
            <a:ext cx="27105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LLM-AS-A-JUDGE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5540" y="3236975"/>
            <a:ext cx="27105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 i="0">
                <a:solidFill>
                  <a:srgbClr val="FFFFFF"/>
                </a:solidFill>
                <a:latin typeface="Calibri"/>
              </a:rPr>
              <a:t>Lo mejor de ambos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5540" y="3977639"/>
            <a:ext cx="271058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DB0C9"/>
                </a:solidFill>
                <a:latin typeface="Calibri"/>
              </a:rPr>
              <a:t>Juicio parecido al humano, a escala de máquina: un LLM lee y califica cada respuesta.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394960"/>
            <a:ext cx="10509199" cy="82296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 w="12700">
            <a:solidFill>
              <a:srgbClr val="FFC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5394960"/>
            <a:ext cx="97776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C21A"/>
                </a:solidFill>
                <a:latin typeface="Calibri"/>
              </a:rPr>
              <a:t>Pero ¡cuidadito!: </a:t>
            </a:r>
            <a:r>
              <a:rPr sz="1500" b="1">
                <a:solidFill>
                  <a:srgbClr val="FFFFFF"/>
                </a:solidFill>
                <a:latin typeface="Calibri"/>
              </a:rPr>
              <a:t>el juez hereda sesgos</a:t>
            </a:r>
            <a:r>
              <a:rPr sz="1500" b="0">
                <a:solidFill>
                  <a:srgbClr val="DFE7F2"/>
                </a:solidFill>
                <a:latin typeface="Calibri"/>
              </a:rPr>
              <a:t> — los cazamos en el bloque siguiente.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05 / 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75704"/>
            <a:ext cx="1847226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EL JUEZ HEREDA SESGOS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783080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E6007E"/>
                </a:solidFill>
                <a:latin typeface="Calibri"/>
              </a:rPr>
              <a:t>¡Pero!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14202E"/>
                </a:solidFill>
                <a:latin typeface="Calibri"/>
              </a:rPr>
              <a:t>Como cualquier modelo de IA, el juez hereda sesgos.</a:t>
            </a:r>
          </a:p>
        </p:txBody>
      </p:sp>
      <p:pic>
        <p:nvPicPr>
          <p:cNvPr id="6" name="Picture 5" descr="cuidadito_m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4663440" cy="2483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06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2216671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7432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BLOQUE 02 · LLM-AS-A-JUDGE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241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Un modelo</a:t>
            </a:r>
          </a:p>
          <a:p>
            <a:pPr algn="l">
              <a:lnSpc>
                <a:spcPct val="98000"/>
              </a:lnSpc>
            </a:pPr>
            <a:r>
              <a:rPr sz="5800" b="1">
                <a:solidFill>
                  <a:srgbClr val="E6007E"/>
                </a:solidFill>
                <a:latin typeface="Calibri"/>
              </a:rPr>
              <a:t>califica a otro.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FE7F2"/>
                </a:solidFill>
                <a:latin typeface="Calibri"/>
              </a:rPr>
              <a:t>Cómo montar un juez con rúbrica, y en qué modos puede trabajar.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07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2586117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QUÉ ES UN LLM-AS-A-JUDGE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202E"/>
                </a:solidFill>
                <a:latin typeface="Calibri"/>
              </a:rPr>
              <a:t>Un LLM con rúbrica califica.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5A6B80"/>
                </a:solidFill>
                <a:latin typeface="Calibri"/>
              </a:rPr>
              <a:t>Se le da a un LLM la pregunta, la respuesta que queremos evaluar y una rúbrica de qué cuenta como buena respuesta. El juez devuelve un puntaje —y, si se lo pedimos, una justificación en texto de por qué lo 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023360"/>
            <a:ext cx="10509199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4023360"/>
            <a:ext cx="9777679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Potente: </a:t>
            </a:r>
            <a:r>
              <a:rPr sz="1600" b="0">
                <a:solidFill>
                  <a:srgbClr val="5A6B80"/>
                </a:solidFill>
                <a:latin typeface="Calibri"/>
              </a:rPr>
              <a:t>entiende significado y matices donde una métrica de palabras se queda corta.</a:t>
            </a:r>
          </a:p>
          <a:p>
            <a:pPr algn="l">
              <a:lnSpc>
                <a:spcPct val="114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Peligroso: </a:t>
            </a:r>
            <a:r>
              <a:rPr sz="1600" b="0">
                <a:solidFill>
                  <a:srgbClr val="5A6B80"/>
                </a:solidFill>
                <a:latin typeface="Calibri"/>
              </a:rPr>
              <a:t>tiene sesgos, y hay que domarlo antes de confiar en su veredicto — eso es el bloque siguiente.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08 /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2955562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HAGÁMOSLO A MANO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202E"/>
                </a:solidFill>
                <a:latin typeface="Calibri"/>
              </a:rPr>
              <a:t>Construyamos un juez, juntos.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4980279" cy="2468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04872"/>
            <a:ext cx="3919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3A82"/>
                </a:solidFill>
                <a:latin typeface="Consolas"/>
              </a:rPr>
              <a:t>EL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34056"/>
            <a:ext cx="4468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468215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Un sistema que, a partir de tu perfil de LinkedIn (y otras redes) y unas vacantes objetivo, arma un CV ajustado a tu experiencia y al rol. Escribimos una primera versión y la miramos.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2148840"/>
            <a:ext cx="4980279" cy="2468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6199" y="2404872"/>
            <a:ext cx="3919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SU TAREA AHORA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6199" y="2734056"/>
            <a:ext cx="4468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6199" y="3337560"/>
            <a:ext cx="4468215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En una línea: ¿qué hace “bueno” a ese CV para ese rol? Eso es la rúbrica del juez — y es la parte difícil, no el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937760"/>
            <a:ext cx="10509199" cy="914400"/>
          </a:xfrm>
          <a:prstGeom prst="roundRect">
            <a:avLst>
              <a:gd name="adj" fmla="val 10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937760"/>
            <a:ext cx="97776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DFE7F2"/>
                </a:solidFill>
                <a:latin typeface="Calibri"/>
              </a:rPr>
              <a:t>Antes de la teoría: </a:t>
            </a:r>
            <a:r>
              <a:rPr sz="1500" b="1">
                <a:solidFill>
                  <a:srgbClr val="FFC21A"/>
                </a:solidFill>
                <a:latin typeface="Calibri"/>
              </a:rPr>
              <a:t>escriban su rúbrica</a:t>
            </a:r>
            <a:r>
              <a:rPr sz="1500" b="0">
                <a:solidFill>
                  <a:srgbClr val="DFE7F2"/>
                </a:solidFill>
                <a:latin typeface="Calibri"/>
              </a:rPr>
              <a:t> y prueben a calificar el CV a mano. Después comparamos con lo que “debía” llevar.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09 /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3325007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YA QUE LO INTENTAMOS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02E"/>
                </a:solidFill>
                <a:latin typeface="Calibri"/>
              </a:rPr>
              <a:t>Qué lleva un buen prompt de juez (y dónde acertamos).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40280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9631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B5A5"/>
                </a:solidFill>
                <a:latin typeface="Consolas"/>
              </a:rPr>
              <a:t>CRITERIO CLARO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2549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Definan qué es una buena respuesta en su dominio; sin criterio, el juez inventa el suyo.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12967" y="2240280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8999" y="249631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3A82"/>
                </a:solidFill>
                <a:latin typeface="Consolas"/>
              </a:rPr>
              <a:t>ESCALA DEFINIDA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8999" y="282549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99" y="342900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Un rango 1–5 con anclas por nivel, no “del 1 al 10 a ojo”. Cada nivel debe significar algo.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977639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3367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FORMATO DE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6285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Pidan solo un número (o un JSON) para poder parsear el veredicto y automatizarlo.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12967" y="3977639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8999" y="423367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91B"/>
                </a:solidFill>
                <a:latin typeface="Consolas"/>
              </a:rPr>
              <a:t>REFERENCIA (OPCIONAL)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456285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8999" y="516636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Si tienen la respuesta gold, dénsela al juez para que compare contra ella.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10 / 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3694453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TRES MODOS DE JUZGAR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02E"/>
                </a:solidFill>
                <a:latin typeface="Calibri"/>
              </a:rPr>
              <a:t>El juez puede trabajar de tres formas.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20574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80"/>
                </a:solidFill>
                <a:latin typeface="Consolas"/>
              </a:rPr>
              <a:t>MODO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0574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80"/>
                </a:solidFill>
                <a:latin typeface="Consolas"/>
              </a:rPr>
              <a:t>CÓMO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057400"/>
            <a:ext cx="3852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80"/>
                </a:solidFill>
                <a:latin typeface="Consolas"/>
              </a:rPr>
              <a:t>CUÁNDO USARLO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68880"/>
            <a:ext cx="10509199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578608"/>
            <a:ext cx="146304" cy="594360"/>
          </a:xfrm>
          <a:prstGeom prst="roundRect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68880"/>
            <a:ext cx="24688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3A82"/>
                </a:solidFill>
                <a:latin typeface="Calibri"/>
              </a:rPr>
              <a:t>Pointwise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68880"/>
            <a:ext cx="420624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14202E"/>
                </a:solidFill>
                <a:latin typeface="Calibri"/>
              </a:rPr>
              <a:t>le pone una nota a UNA respuesta (1–5)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68880"/>
            <a:ext cx="3852367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5A6B80"/>
                </a:solidFill>
                <a:latin typeface="Calibri"/>
              </a:rPr>
              <a:t>calificar cada respuesta del baseline → el scorecard de 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429000"/>
            <a:ext cx="10509199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" y="3538728"/>
            <a:ext cx="146304" cy="594360"/>
          </a:xfrm>
          <a:prstGeom prst="round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429000"/>
            <a:ext cx="24688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007E"/>
                </a:solidFill>
                <a:latin typeface="Calibri"/>
              </a:rPr>
              <a:t>Pairwise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429000"/>
            <a:ext cx="420624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14202E"/>
                </a:solidFill>
                <a:latin typeface="Calibri"/>
              </a:rPr>
              <a:t>compara dos respuestas y elige la mejor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429000"/>
            <a:ext cx="3852367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5A6B80"/>
                </a:solidFill>
                <a:latin typeface="Calibri"/>
              </a:rPr>
              <a:t>¿mi cambio sirvió? versión A (antes) vs B (después)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389120"/>
            <a:ext cx="10509199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498848"/>
            <a:ext cx="146304" cy="594360"/>
          </a:xfrm>
          <a:prstGeom prst="roundRect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389120"/>
            <a:ext cx="24688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B5A5"/>
                </a:solidFill>
                <a:latin typeface="Calibri"/>
              </a:rPr>
              <a:t>Reference-based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389120"/>
            <a:ext cx="420624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0" i="0">
                <a:solidFill>
                  <a:srgbClr val="14202E"/>
                </a:solidFill>
                <a:latin typeface="Calibri"/>
              </a:rPr>
              <a:t>compara contra una respuesta 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389120"/>
            <a:ext cx="3852367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5A6B80"/>
                </a:solidFill>
                <a:latin typeface="Calibri"/>
              </a:rPr>
              <a:t>cuando el eval set trae la salida esperada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394959"/>
            <a:ext cx="10509199" cy="914400"/>
          </a:xfrm>
          <a:prstGeom prst="roundRect">
            <a:avLst>
              <a:gd name="adj" fmla="val 10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394959"/>
            <a:ext cx="97776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C21A"/>
                </a:solidFill>
                <a:latin typeface="Calibri"/>
              </a:rPr>
              <a:t>¿Hay más de tres? </a:t>
            </a:r>
            <a:r>
              <a:rPr sz="1350" b="0">
                <a:solidFill>
                  <a:srgbClr val="DFE7F2"/>
                </a:solidFill>
                <a:latin typeface="Calibri"/>
              </a:rPr>
              <a:t>sí — un panel de varios jueces, G-Eval (un juez que razona paso a paso), rúbricas multi-criterio… Estos tres cubren el 90%. </a:t>
            </a:r>
            <a:r>
              <a:rPr sz="1350" b="1">
                <a:solidFill>
                  <a:srgbClr val="FFFFFF"/>
                </a:solidFill>
                <a:latin typeface="Calibri"/>
              </a:rPr>
              <a:t>El harness de M2 usa pointwise.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11 / 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🔄  PUNTO DE SINCRONIZACIÓN · LAB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Al notebook — Lab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C21A"/>
                </a:solidFill>
                <a:latin typeface="Calibri"/>
              </a:rPr>
              <a:t>Monten su juez con rúbrica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9DB0C9"/>
                </a:solidFill>
                <a:latin typeface="Calibri"/>
              </a:rPr>
              <a:t>Escriben un prompt de juez con una rúbrica 1–5 para su dominio, se lo pasan a un LLM pequeño y obtienen un puntaje por respuesta. Comparan una respuesta claramente buena contra una pobre y ven si el juez las distingue.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937760"/>
            <a:ext cx="10509199" cy="91440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4937760"/>
            <a:ext cx="97776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DFE7F2"/>
                </a:solidFill>
                <a:latin typeface="Consolas"/>
              </a:rPr>
              <a:t>prompt con rúbrica → LLM juez → score 1–5   →   S06_Lab_Harness_de_evaluacion.ipynb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12 /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4433343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DE VUELTA · NUESTRO JUEZ DEL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4202E"/>
                </a:solidFill>
                <a:latin typeface="Calibri"/>
              </a:rPr>
              <a:t>Qué aprendimos montándolo.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0509199" cy="4160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2724912"/>
            <a:ext cx="182880" cy="182880"/>
          </a:xfrm>
          <a:prstGeom prst="ellipse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2651760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Acertó lo grueso  </a:t>
            </a:r>
            <a:r>
              <a:rPr sz="1550" b="0">
                <a:solidFill>
                  <a:srgbClr val="5A6B80"/>
                </a:solidFill>
                <a:latin typeface="Calibri"/>
              </a:rPr>
              <a:t>con una rúbrica clara, el juez separó un CV sólido de uno flojo — funciona.</a:t>
            </a:r>
          </a:p>
        </p:txBody>
      </p:sp>
      <p:sp>
        <p:nvSpPr>
          <p:cNvPr id="8" name="Oval 7"/>
          <p:cNvSpPr/>
          <p:nvPr/>
        </p:nvSpPr>
        <p:spPr>
          <a:xfrm>
            <a:off x="1207008" y="3621024"/>
            <a:ext cx="182880" cy="182880"/>
          </a:xfrm>
          <a:prstGeom prst="ellipse">
            <a:avLst/>
          </a:prstGeom>
          <a:solidFill>
            <a:srgbClr val="E4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8488" y="3547872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Se le coló un sesgo  </a:t>
            </a:r>
            <a:r>
              <a:rPr sz="1550" b="0">
                <a:solidFill>
                  <a:srgbClr val="5A6B80"/>
                </a:solidFill>
                <a:latin typeface="Calibri"/>
              </a:rPr>
              <a:t>tendió a premiar el CV más largo, aunque no era mejor. Guarden esa pista.</a:t>
            </a:r>
          </a:p>
        </p:txBody>
      </p:sp>
      <p:sp>
        <p:nvSpPr>
          <p:cNvPr id="10" name="Oval 9"/>
          <p:cNvSpPr/>
          <p:nvPr/>
        </p:nvSpPr>
        <p:spPr>
          <a:xfrm>
            <a:off x="1207008" y="4517136"/>
            <a:ext cx="182880" cy="182880"/>
          </a:xfrm>
          <a:prstGeom prst="ellipse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8488" y="4443983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El prompt es el producto  </a:t>
            </a:r>
            <a:r>
              <a:rPr sz="1550" b="0">
                <a:solidFill>
                  <a:srgbClr val="5A6B80"/>
                </a:solidFill>
                <a:latin typeface="Calibri"/>
              </a:rPr>
              <a:t>cambiar la rúbrica cambió la nota: el juez es código, se versiona y se prueba.</a:t>
            </a:r>
          </a:p>
        </p:txBody>
      </p:sp>
      <p:sp>
        <p:nvSpPr>
          <p:cNvPr id="12" name="Oval 11"/>
          <p:cNvSpPr/>
          <p:nvPr/>
        </p:nvSpPr>
        <p:spPr>
          <a:xfrm>
            <a:off x="1207008" y="5413248"/>
            <a:ext cx="182880" cy="1828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8488" y="5340096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Confiamos sin verificar  </a:t>
            </a:r>
            <a:r>
              <a:rPr sz="1550" b="0">
                <a:solidFill>
                  <a:srgbClr val="5A6B80"/>
                </a:solidFill>
                <a:latin typeface="Calibri"/>
              </a:rPr>
              <a:t>¿y si ese sesgo estaba decidiendo por nosotros? Eso es exactamente lo siguiente.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13 / 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75704"/>
            <a:ext cx="4802789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7432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BLOQUE 03 · LOS SESGOS DEL JUEZ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241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El juez</a:t>
            </a:r>
          </a:p>
          <a:p>
            <a:pPr algn="l">
              <a:lnSpc>
                <a:spcPct val="98000"/>
              </a:lnSpc>
            </a:pPr>
            <a:r>
              <a:rPr sz="5800" b="1">
                <a:solidFill>
                  <a:srgbClr val="E6007E"/>
                </a:solidFill>
                <a:latin typeface="Calibri"/>
              </a:rPr>
              <a:t>también se equivoca.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FE7F2"/>
                </a:solidFill>
                <a:latin typeface="Calibri"/>
              </a:rPr>
              <a:t>Posición, longitud y auto-preferencia: los tres vicios del juez, y cómo domarlos.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14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5172234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LOS SESGOS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02E"/>
                </a:solidFill>
                <a:latin typeface="Calibri"/>
              </a:rPr>
              <a:t>El juez tiene tres vicios conocidos.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259226" cy="397763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20824"/>
            <a:ext cx="2326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1794" y="1892807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0" i="0">
                <a:solidFill>
                  <a:srgbClr val="14202E"/>
                </a:solidFill>
                <a:latin typeface="Calibri"/>
              </a:rPr>
              <a:t>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31720"/>
            <a:ext cx="2783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02E"/>
                </a:solidFill>
                <a:latin typeface="Calibri"/>
              </a:rPr>
              <a:t>Prefiere el orden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43784"/>
            <a:ext cx="278373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A6B80"/>
                </a:solidFill>
                <a:latin typeface="Calibri"/>
              </a:rPr>
              <a:t>Prefiere la 1ª (o la 2ª) respuesta por dónde aparece, no por su calidad.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4069080"/>
            <a:ext cx="2783738" cy="1170432"/>
          </a:xfrm>
          <a:prstGeom prst="roundRect">
            <a:avLst>
              <a:gd name="adj" fmla="val 12000"/>
            </a:avLst>
          </a:prstGeom>
          <a:solidFill>
            <a:srgbClr val="E7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4160520"/>
            <a:ext cx="252770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E6007E"/>
                </a:solidFill>
                <a:latin typeface="Calibri"/>
              </a:rPr>
              <a:t>Ejemplo: </a:t>
            </a:r>
            <a:r>
              <a:rPr sz="1150" b="0">
                <a:solidFill>
                  <a:srgbClr val="14202E"/>
                </a:solidFill>
                <a:latin typeface="Calibri"/>
              </a:rPr>
              <a:t>al invertir el orden de dos respuestas, el juez cambia de favorito.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394959"/>
            <a:ext cx="27837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A6B80"/>
                </a:solidFill>
                <a:latin typeface="Consolas"/>
              </a:rPr>
              <a:t>Zheng et al. 2023 · Wang et al. 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6234" y="1783080"/>
            <a:ext cx="3259226" cy="397763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978" y="2020824"/>
            <a:ext cx="2326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91B"/>
                </a:solidFill>
                <a:latin typeface="Consolas"/>
              </a:rPr>
              <a:t>LONGITUD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6780" y="1892807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0" i="0">
                <a:solidFill>
                  <a:srgbClr val="14202E"/>
                </a:solidFill>
                <a:latin typeface="Calibri"/>
              </a:rPr>
              <a:t>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978" y="2331720"/>
            <a:ext cx="2783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02E"/>
                </a:solidFill>
                <a:latin typeface="Calibri"/>
              </a:rPr>
              <a:t>Premia lo largo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978" y="2843784"/>
            <a:ext cx="278373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A6B80"/>
                </a:solidFill>
                <a:latin typeface="Calibri"/>
              </a:rPr>
              <a:t>Da mejor nota a respuestas largas aunque no sean mejores — más texto no es más calidad.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3978" y="4069080"/>
            <a:ext cx="2783738" cy="1170432"/>
          </a:xfrm>
          <a:prstGeom prst="roundRect">
            <a:avLst>
              <a:gd name="adj" fmla="val 12000"/>
            </a:avLst>
          </a:prstGeom>
          <a:solidFill>
            <a:srgbClr val="E7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1994" y="4160520"/>
            <a:ext cx="252770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E4791B"/>
                </a:solidFill>
                <a:latin typeface="Calibri"/>
              </a:rPr>
              <a:t>Ejemplo: </a:t>
            </a:r>
            <a:r>
              <a:rPr sz="1150" b="0">
                <a:solidFill>
                  <a:srgbClr val="14202E"/>
                </a:solidFill>
                <a:latin typeface="Calibri"/>
              </a:rPr>
              <a:t>una respuesta más larga, pero igual de correcta, recibe mejor nota.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3978" y="5394959"/>
            <a:ext cx="27837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A6B80"/>
                </a:solidFill>
                <a:latin typeface="Consolas"/>
              </a:rPr>
              <a:t>Dubois et al. 2024 · Zheng et al. 2023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1220" y="1783080"/>
            <a:ext cx="3259226" cy="397763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8964" y="2020824"/>
            <a:ext cx="2326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4DD6"/>
                </a:solidFill>
                <a:latin typeface="Consolas"/>
              </a:rPr>
              <a:t>AUTO-PREFERENCIA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81767" y="1892807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0" i="0">
                <a:solidFill>
                  <a:srgbClr val="14202E"/>
                </a:solidFill>
                <a:latin typeface="Calibri"/>
              </a:rPr>
              <a:t>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8964" y="2331720"/>
            <a:ext cx="2783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02E"/>
                </a:solidFill>
                <a:latin typeface="Calibri"/>
              </a:rPr>
              <a:t>Se prefiere a sí mismo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8964" y="2843784"/>
            <a:ext cx="278373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A6B80"/>
                </a:solidFill>
                <a:latin typeface="Calibri"/>
              </a:rPr>
              <a:t>Prefiere texto de su propia familia de modelo: no es neutral consigo mismo.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8964" y="4069080"/>
            <a:ext cx="2783738" cy="1170432"/>
          </a:xfrm>
          <a:prstGeom prst="roundRect">
            <a:avLst>
              <a:gd name="adj" fmla="val 12000"/>
            </a:avLst>
          </a:prstGeom>
          <a:solidFill>
            <a:srgbClr val="E7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6980" y="4160520"/>
            <a:ext cx="252770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7A4DD6"/>
                </a:solidFill>
                <a:latin typeface="Calibri"/>
              </a:rPr>
              <a:t>Ejemplo: </a:t>
            </a:r>
            <a:r>
              <a:rPr sz="1150" b="0">
                <a:solidFill>
                  <a:srgbClr val="14202E"/>
                </a:solidFill>
                <a:latin typeface="Calibri"/>
              </a:rPr>
              <a:t>un juez GPT-4 prefiere respuestas de GPT-4 sobre otras igual de buenas.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964" y="5394959"/>
            <a:ext cx="27837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A6B80"/>
                </a:solidFill>
                <a:latin typeface="Consolas"/>
              </a:rPr>
              <a:t>Panickssery et al.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92531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B80"/>
                </a:solidFill>
                <a:latin typeface="Consolas"/>
              </a:rPr>
              <a:t>Documentados y medibles — por eso mismo, mitigables (bloque siguiente).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15 / 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75704"/>
            <a:ext cx="5541679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POR QUÉ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02E"/>
                </a:solidFill>
                <a:latin typeface="Calibri"/>
              </a:rPr>
              <a:t>Cada sesgo tiene una consecuencia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20116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80"/>
                </a:solidFill>
                <a:latin typeface="Consolas"/>
              </a:rPr>
              <a:t>SESGO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01168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80"/>
                </a:solidFill>
                <a:latin typeface="Consolas"/>
              </a:rPr>
              <a:t>SE VE ASÍ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011680"/>
            <a:ext cx="38523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80"/>
                </a:solidFill>
                <a:latin typeface="Consolas"/>
              </a:rPr>
              <a:t>CONSECUENCIA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77440"/>
            <a:ext cx="10509199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487168"/>
            <a:ext cx="146304" cy="594360"/>
          </a:xfrm>
          <a:prstGeom prst="round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377440"/>
            <a:ext cx="24688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007E"/>
                </a:solidFill>
                <a:latin typeface="Calibri"/>
              </a:rPr>
              <a:t>Posición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420624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4202E"/>
                </a:solidFill>
                <a:latin typeface="Calibri"/>
              </a:rPr>
              <a:t>cambia el veredicto al invertir el orden A↔B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77440"/>
            <a:ext cx="3852367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comparaciones no confiables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37560"/>
            <a:ext cx="10509199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" y="3447288"/>
            <a:ext cx="146304" cy="594360"/>
          </a:xfrm>
          <a:prstGeom prst="roundRect">
            <a:avLst/>
          </a:prstGeom>
          <a:solidFill>
            <a:srgbClr val="E4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337560"/>
            <a:ext cx="24688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4791B"/>
                </a:solidFill>
                <a:latin typeface="Calibri"/>
              </a:rPr>
              <a:t>Longitud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37560"/>
            <a:ext cx="420624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4202E"/>
                </a:solidFill>
                <a:latin typeface="Calibri"/>
              </a:rPr>
              <a:t>la respuesta más larga gana casi siempre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337560"/>
            <a:ext cx="3852367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infla sistemas verbosos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297680"/>
            <a:ext cx="10509199" cy="83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407408"/>
            <a:ext cx="146304" cy="594360"/>
          </a:xfrm>
          <a:prstGeom prst="roundRect">
            <a:avLst/>
          </a:prstGeom>
          <a:solidFill>
            <a:srgbClr val="7A4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297680"/>
            <a:ext cx="246888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A4DD6"/>
                </a:solidFill>
                <a:latin typeface="Calibri"/>
              </a:rPr>
              <a:t>Auto-preferencia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297680"/>
            <a:ext cx="4206240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4202E"/>
                </a:solidFill>
                <a:latin typeface="Calibri"/>
              </a:rPr>
              <a:t>un GPT-juez prefiere respuestas de GPT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297680"/>
            <a:ext cx="3852367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B80"/>
                </a:solidFill>
                <a:latin typeface="Calibri"/>
              </a:rPr>
              <a:t>evaluación no 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29437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B80"/>
                </a:solidFill>
                <a:latin typeface="Consolas"/>
              </a:rPr>
              <a:t>Lo bueno: estos sesgos son medibles y, por lo tanto, mitigables.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16 / 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5911124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AL TABLERO · ANTES DE LA RESPUESTA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02E"/>
                </a:solidFill>
                <a:latin typeface="Calibri"/>
              </a:rPr>
              <a:t>¿Cómo los mitigamos?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3259226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697480"/>
            <a:ext cx="325922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14202E"/>
                </a:solidFill>
                <a:latin typeface="Calibri"/>
              </a:rP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520440"/>
            <a:ext cx="32592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6007E"/>
                </a:solidFill>
                <a:latin typeface="Consolas"/>
              </a:rPr>
              <a:t>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32592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DB0C9"/>
                </a:solidFill>
                <a:latin typeface="Calibri"/>
              </a:rPr>
              <a:t>·   ·   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6234" y="2286000"/>
            <a:ext cx="3259226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79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234" y="2697480"/>
            <a:ext cx="325922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14202E"/>
                </a:solidFill>
                <a:latin typeface="Calibri"/>
              </a:rPr>
              <a:t>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6234" y="3520440"/>
            <a:ext cx="32592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4791B"/>
                </a:solidFill>
                <a:latin typeface="Consolas"/>
              </a:rPr>
              <a:t>LONGITUD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234" y="4160520"/>
            <a:ext cx="32592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DB0C9"/>
                </a:solidFill>
                <a:latin typeface="Calibri"/>
              </a:rPr>
              <a:t>·   ·   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2286000"/>
            <a:ext cx="3259226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7A4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1220" y="2697480"/>
            <a:ext cx="325922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14202E"/>
                </a:solidFill>
                <a:latin typeface="Calibri"/>
              </a:rPr>
              <a:t>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1220" y="3520440"/>
            <a:ext cx="32592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A4DD6"/>
                </a:solidFill>
                <a:latin typeface="Consolas"/>
              </a:rPr>
              <a:t>AUTO-PREFERENCIA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4160520"/>
            <a:ext cx="32592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DB0C9"/>
                </a:solidFill>
                <a:latin typeface="Calibri"/>
              </a:rPr>
              <a:t>·   ·  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23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B80"/>
                </a:solidFill>
                <a:latin typeface="Consolas"/>
              </a:rPr>
              <a:t>Lluvia de ideas del grupo — lo llenamos aquí y en la siguiente lo comparamos.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17 / 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6280570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CÓMO MITIGAR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02E"/>
                </a:solidFill>
                <a:latin typeface="Calibri"/>
              </a:rPr>
              <a:t>¿Cómo los mitigamos? Domándolo.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40280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9631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B5A5"/>
                </a:solidFill>
                <a:latin typeface="Consolas"/>
              </a:rPr>
              <a:t>INTERCAMBIAR 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2549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Evalúa A-B y B-A, y promedia. Si el veredicto cambia, era sesgo, no calidad.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12967" y="2240280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8999" y="249631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3A82"/>
                </a:solidFill>
                <a:latin typeface="Consolas"/>
              </a:rPr>
              <a:t>CONTROLAR LONGITUD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8999" y="282549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99" y="342900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Pide concisión en la rúbrica y compara respuestas de longitud similar.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977639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3367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RÚBRICA EXPLÍCITA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6285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Ancla cada nivel 1–5 con una descripción para que no juzgue “a ojo”.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12967" y="3977639"/>
            <a:ext cx="4705959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8999" y="4233672"/>
            <a:ext cx="3645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91B"/>
                </a:solidFill>
                <a:latin typeface="Consolas"/>
              </a:rPr>
              <a:t>CALIBRAR CON HUMANOS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4562856"/>
            <a:ext cx="4193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8999" y="5166360"/>
            <a:ext cx="419389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Revisa a mano una muestra y mide si el juez concuerda con las personas.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18 / 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6650015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🔄  PUNTO DE SINCRONIZACIÓN · LAB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Al notebook — Lab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C21A"/>
                </a:solidFill>
                <a:latin typeface="Calibri"/>
              </a:rPr>
              <a:t>Cacen el sesgo de 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9DB0C9"/>
                </a:solidFill>
                <a:latin typeface="Calibri"/>
              </a:rPr>
              <a:t>Toman dos respuestas —una claramente mejor— y le piden al juez que elija: primero en un orden, luego con el orden invertido. Ven si el veredicto se voltea. Después aplican la mitigación: promediar los dos órdenes.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937760"/>
            <a:ext cx="10509199" cy="91440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4937760"/>
            <a:ext cx="97776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DFE7F2"/>
                </a:solidFill>
                <a:latin typeface="Consolas"/>
              </a:rPr>
              <a:t>juez pairwise A-B  vs  B-A  →  ¿se voltea?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19 /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7019460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DE VUELTA DEL LAB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4202E"/>
                </a:solidFill>
                <a:latin typeface="Calibri"/>
              </a:rPr>
              <a:t>Qué probaron.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0509199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2724912"/>
            <a:ext cx="182880" cy="1828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2651760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La prueba del sesgo  </a:t>
            </a:r>
            <a:r>
              <a:rPr sz="1550" b="0">
                <a:solidFill>
                  <a:srgbClr val="5A6B80"/>
                </a:solidFill>
                <a:latin typeface="Calibri"/>
              </a:rPr>
              <a:t>presentar el mismo par en los dos órdenes (A-B y B-A) es como se caza el sesgo de posición.</a:t>
            </a:r>
          </a:p>
        </p:txBody>
      </p:sp>
      <p:sp>
        <p:nvSpPr>
          <p:cNvPr id="8" name="Oval 7"/>
          <p:cNvSpPr/>
          <p:nvPr/>
        </p:nvSpPr>
        <p:spPr>
          <a:xfrm>
            <a:off x="1207008" y="3621024"/>
            <a:ext cx="182880" cy="182880"/>
          </a:xfrm>
          <a:prstGeom prst="ellipse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8488" y="3547872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Puede no voltearse  </a:t>
            </a:r>
            <a:r>
              <a:rPr sz="1550" b="0">
                <a:solidFill>
                  <a:srgbClr val="5A6B80"/>
                </a:solidFill>
                <a:latin typeface="Calibri"/>
              </a:rPr>
              <a:t>con un par muy desigual, hasta un juez pequeño sigue la calidad; el sesgo asoma cuando las dos respuestas están parejas.</a:t>
            </a:r>
          </a:p>
        </p:txBody>
      </p:sp>
      <p:sp>
        <p:nvSpPr>
          <p:cNvPr id="10" name="Oval 9"/>
          <p:cNvSpPr/>
          <p:nvPr/>
        </p:nvSpPr>
        <p:spPr>
          <a:xfrm>
            <a:off x="1207008" y="4517136"/>
            <a:ext cx="182880" cy="182880"/>
          </a:xfrm>
          <a:prstGeom prst="ellipse">
            <a:avLst/>
          </a:prstGeom>
          <a:solidFill>
            <a:srgbClr val="E4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8488" y="4443983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Pero ya tienen el detector  </a:t>
            </a:r>
            <a:r>
              <a:rPr sz="1550" b="0">
                <a:solidFill>
                  <a:srgbClr val="5A6B80"/>
                </a:solidFill>
                <a:latin typeface="Calibri"/>
              </a:rPr>
              <a:t>evaluar en ambos órdenes y promediar: el día que se voltee, lo van a cazar.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20 / 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7388906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7432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BLOQUE 04 · EVALUACIÓN HUMANA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241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El patrón</a:t>
            </a:r>
          </a:p>
          <a:p>
            <a:pPr algn="l">
              <a:lnSpc>
                <a:spcPct val="98000"/>
              </a:lnSpc>
            </a:pPr>
            <a:r>
              <a:rPr sz="5800" b="1">
                <a:solidFill>
                  <a:srgbClr val="E6007E"/>
                </a:solidFill>
                <a:latin typeface="Calibri"/>
              </a:rPr>
              <a:t>oro sigue siendo humano.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FE7F2"/>
                </a:solidFill>
                <a:latin typeface="Calibri"/>
              </a:rPr>
              <a:t>Cuándo vale el costo, y cómo saber si dos personas concuerdan.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21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7758351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EL PATRÓN 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02E"/>
                </a:solidFill>
                <a:latin typeface="Calibri"/>
              </a:rPr>
              <a:t>Cuando de verdad importa (mucho, mucho), pregúntenle a una persona.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488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5A6B80"/>
                </a:solidFill>
                <a:latin typeface="Calibri"/>
              </a:rPr>
              <a:t>El juicio humano con rúbrica sigue siendo la referencia contra la cual se calibra todo lo demás —el LLM-juez incluido. Su costo es tiempo y consistencia: las personas se cansan y no siempre concuerdan entre sí.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023360"/>
            <a:ext cx="10509199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4023360"/>
            <a:ext cx="977767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La regla práctica: </a:t>
            </a:r>
            <a:r>
              <a:rPr sz="1600" b="1">
                <a:solidFill>
                  <a:srgbClr val="0B3A82"/>
                </a:solidFill>
                <a:latin typeface="Calibri"/>
              </a:rPr>
              <a:t>usen humano</a:t>
            </a:r>
            <a:r>
              <a:rPr sz="1600" b="0">
                <a:solidFill>
                  <a:srgbClr val="5A6B80"/>
                </a:solidFill>
                <a:latin typeface="Calibri"/>
              </a:rPr>
              <a:t> para calibrar el juez y para los casos de alto riesgo; usen el </a:t>
            </a:r>
            <a:r>
              <a:rPr sz="1600" b="1">
                <a:solidFill>
                  <a:srgbClr val="0B3A82"/>
                </a:solidFill>
                <a:latin typeface="Calibri"/>
              </a:rPr>
              <a:t>LLM-juez</a:t>
            </a:r>
            <a:r>
              <a:rPr sz="1600" b="0">
                <a:solidFill>
                  <a:srgbClr val="5A6B80"/>
                </a:solidFill>
                <a:latin typeface="Calibri"/>
              </a:rPr>
              <a:t> para escalar el resto. Así lo usan hasta las IAs agénticas (como Claude Code): escalan a una persona los casos difíciles.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22 /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8127796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INTER-RATER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202E"/>
                </a:solidFill>
                <a:latin typeface="Calibri"/>
              </a:rPr>
              <a:t>¿Dos personas califican igual?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5A6B80"/>
                </a:solidFill>
                <a:latin typeface="Calibri"/>
              </a:rPr>
              <a:t>Si dos anotadores no concuerdan, el problema es la rúbrica ambigua, no el modelo. Se mide el acuerdo con Cohen’s kappa, que corrige el acierto por azar: por encima de 0.6 es aceptable, por encima de 0.8 es fuerte.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023360"/>
            <a:ext cx="10509199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4023360"/>
            <a:ext cx="977767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4202E"/>
                </a:solidFill>
                <a:latin typeface="Calibri"/>
              </a:rPr>
              <a:t>Baja concordancia ⇒ </a:t>
            </a:r>
            <a:r>
              <a:rPr sz="1650" b="1">
                <a:solidFill>
                  <a:srgbClr val="E6007E"/>
                </a:solidFill>
                <a:latin typeface="Calibri"/>
              </a:rPr>
              <a:t>arreglen la rúbrica</a:t>
            </a:r>
            <a:r>
              <a:rPr sz="1650" b="0">
                <a:solidFill>
                  <a:srgbClr val="5A6B80"/>
                </a:solidFill>
                <a:latin typeface="Calibri"/>
              </a:rPr>
              <a:t> antes de confiar en cualquier número, venga de un humano o de un LLM. Un juez calibrado sobre una rúbrica ambigua no mide 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23 /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8497242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7432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BLOQUE 05 · DATASETS ADVERSARIALES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241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Rompan su</a:t>
            </a:r>
          </a:p>
          <a:p>
            <a:pPr algn="l">
              <a:lnSpc>
                <a:spcPct val="98000"/>
              </a:lnSpc>
            </a:pPr>
            <a:r>
              <a:rPr sz="5800" b="1">
                <a:solidFill>
                  <a:srgbClr val="E6007E"/>
                </a:solidFill>
                <a:latin typeface="Calibri"/>
              </a:rPr>
              <a:t>propio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FE7F2"/>
                </a:solidFill>
                <a:latin typeface="Calibri"/>
              </a:rPr>
              <a:t>Generar casos difíciles a propósito, antes de que lo haga el usuario.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24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8866687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DATASETS SINTÉTICOS Y ADVERSARIALES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202E"/>
                </a:solidFill>
                <a:latin typeface="Calibri"/>
              </a:rPr>
              <a:t>Fabriquen los casos difíciles.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5A6B80"/>
                </a:solidFill>
                <a:latin typeface="Calibri"/>
              </a:rPr>
              <a:t>Además de los ejemplos gold reales, pueden generar —incluso con un LLM— casos de borde a propósito: preguntas ambiguas, con trampa, o fuera de dominio. Eso sí: valídenlos a mano antes de meterlos al eval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023360"/>
            <a:ext cx="10509199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4023360"/>
            <a:ext cx="977767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4202E"/>
                </a:solidFill>
                <a:latin typeface="Calibri"/>
              </a:rPr>
              <a:t>Un eval set solo con casos fáciles </a:t>
            </a:r>
            <a:r>
              <a:rPr sz="1650" b="1">
                <a:solidFill>
                  <a:srgbClr val="E6007E"/>
                </a:solidFill>
                <a:latin typeface="Calibri"/>
              </a:rPr>
              <a:t>miente</a:t>
            </a:r>
            <a:r>
              <a:rPr sz="1650" b="0">
                <a:solidFill>
                  <a:srgbClr val="5A6B80"/>
                </a:solidFill>
                <a:latin typeface="Calibri"/>
              </a:rPr>
              <a:t>: todo se ve bien hasta que llega el usuario real. Los bordes son donde se ve la calidad de verdad — y donde su sistema se va a romper primero.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25 /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9236132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RED-TEAMING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4202E"/>
                </a:solidFill>
                <a:latin typeface="Calibri"/>
              </a:rPr>
              <a:t>Ataquen su sistema antes que el usuario.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3619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6B80"/>
                </a:solidFill>
                <a:latin typeface="Calibri"/>
              </a:rPr>
              <a:t>Tres pruebas que deberían hacer SIEMPRE.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3259226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42032"/>
            <a:ext cx="2198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ALUCINACIÓN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1794" y="243230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 i="0">
                <a:solidFill>
                  <a:srgbClr val="14202E"/>
                </a:solidFill>
                <a:latin typeface="Calibri"/>
              </a:rPr>
              <a:t>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2747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>¿Inventa o admite?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2747162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Pregúntenle algo cuya respuesta no existe: ¿se lo inventa con seguridad, o admite que no sabe?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6234" y="2286000"/>
            <a:ext cx="3259226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266" y="2542032"/>
            <a:ext cx="2198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3A82"/>
                </a:solidFill>
                <a:latin typeface="Consolas"/>
              </a:rPr>
              <a:t>FUERA DE 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6780" y="243230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 i="0">
                <a:solidFill>
                  <a:srgbClr val="14202E"/>
                </a:solidFill>
                <a:latin typeface="Calibri"/>
              </a:rPr>
              <a:t>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266" y="2871216"/>
            <a:ext cx="2747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>¿Pone límites?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2266" y="3474720"/>
            <a:ext cx="2747162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Algo que su sistema NO debería responder: ¿reconoce el límite o contesta igual?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2286000"/>
            <a:ext cx="3259226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7252" y="2542032"/>
            <a:ext cx="2198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91B"/>
                </a:solidFill>
                <a:latin typeface="Consolas"/>
              </a:rPr>
              <a:t>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81767" y="243230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 i="0">
                <a:solidFill>
                  <a:srgbClr val="14202E"/>
                </a:solidFill>
                <a:latin typeface="Calibri"/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7252" y="2871216"/>
            <a:ext cx="2747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>¿Se niega bien?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252" y="3474720"/>
            <a:ext cx="2747162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Entradas tóxicas o con trampa: ¿se niega de forma clara, o cae en la provocación?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5A6B80"/>
                </a:solidFill>
                <a:latin typeface="Consolas"/>
              </a:rPr>
              <a:t>Inclúyanlos: al menos 2 casos adversariales en el eval set de M2.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26 / 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75704"/>
            <a:ext cx="9605578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2743200"/>
            <a:ext cx="8229600" cy="82296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BLOQUE 06 · EL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241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Todo junto:</a:t>
            </a:r>
          </a:p>
          <a:p>
            <a:pPr algn="l">
              <a:lnSpc>
                <a:spcPct val="98000"/>
              </a:lnSpc>
            </a:pPr>
            <a:r>
              <a:rPr sz="5800" b="1">
                <a:solidFill>
                  <a:srgbClr val="E6007E"/>
                </a:solidFill>
                <a:latin typeface="Calibri"/>
              </a:rPr>
              <a:t>su harness.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DFE7F2"/>
                </a:solidFill>
                <a:latin typeface="Calibri"/>
              </a:rPr>
              <a:t>Las tres dimensiones, ejecutables, produciendo el scorecard del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27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9975023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LAS TRES DIMENSIONES, AHORA EJECUTABLES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02E"/>
                </a:solidFill>
                <a:latin typeface="Calibri"/>
              </a:rPr>
              <a:t>Tres dimensiones, un solo harness.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3259226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42032"/>
            <a:ext cx="2198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B5A5"/>
                </a:solidFill>
                <a:latin typeface="Consolas"/>
              </a:rPr>
              <a:t>1 · MÉTRICA CLÁSICA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1794" y="243230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 i="0">
                <a:solidFill>
                  <a:srgbClr val="14202E"/>
                </a:solidFill>
                <a:latin typeface="Calibri"/>
              </a:rPr>
              <a:t>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71216"/>
            <a:ext cx="2747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>Automática y barata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747162" cy="1755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Similitud por embeddings o ROUGE. Rápida y reproducible, con sus sesgos conocidos.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6234" y="2286000"/>
            <a:ext cx="3259226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266" y="2542032"/>
            <a:ext cx="2198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Consolas"/>
              </a:rPr>
              <a:t>2 · LLM-AS-A-JUDGE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6780" y="243230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 i="0">
                <a:solidFill>
                  <a:srgbClr val="14202E"/>
                </a:solidFill>
                <a:latin typeface="Calibri"/>
              </a:rPr>
              <a:t>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266" y="2871216"/>
            <a:ext cx="2747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>Un LLM califica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266" y="3474720"/>
            <a:ext cx="2747162" cy="1755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Con rúbrica y control de sesgos (intercambiar posición, controlar longitud).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2286000"/>
            <a:ext cx="3259226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7252" y="2542032"/>
            <a:ext cx="21985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3A82"/>
                </a:solidFill>
                <a:latin typeface="Consolas"/>
              </a:rPr>
              <a:t>3 · EVAL SET DE DOMINIO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1767" y="243230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b="0" i="0">
                <a:solidFill>
                  <a:srgbClr val="14202E"/>
                </a:solidFill>
                <a:latin typeface="Calibr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252" y="2871216"/>
            <a:ext cx="27471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4202E"/>
                </a:solidFill>
                <a:latin typeface="Calibri"/>
              </a:rPr>
              <a:t>Sus ejemplos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7252" y="3474720"/>
            <a:ext cx="2747162" cy="1755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80"/>
                </a:solidFill>
                <a:latin typeface="Calibri"/>
              </a:rPr>
              <a:t>Sus 10 ejemplos gold más al menos 2 casos adversariales. La medida que sí importa.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532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5A6B80"/>
                </a:solidFill>
                <a:latin typeface="Consolas"/>
              </a:rPr>
              <a:t>El harness corre las tres sobre su modelo de M1 y arma un scorecard del baseline.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28 / 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0344468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ANATOMÍA DEL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202E"/>
                </a:solidFill>
                <a:latin typeface="Calibri"/>
              </a:rPr>
              <a:t>Qué es un scorecard.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10424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5A6B80"/>
                </a:solidFill>
                <a:latin typeface="Calibri"/>
              </a:rPr>
              <a:t>Una tabla con el puntaje del baseline por dimensión sobre su eval set, más una lectura honesta de dónde falla. No es un número mágico: es un retrato del sistema hoy.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383280"/>
            <a:ext cx="10509199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566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80"/>
                </a:solidFill>
                <a:latin typeface="Consolas"/>
              </a:rPr>
              <a:t>DIMENSIÓN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35661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80"/>
                </a:solidFill>
                <a:latin typeface="Consolas"/>
              </a:rPr>
              <a:t>PUNTAJE BASELINE</a:t>
            </a:r>
          </a:p>
        </p:txBody>
      </p:sp>
      <p:sp>
        <p:nvSpPr>
          <p:cNvPr id="9" name="Oval 8"/>
          <p:cNvSpPr/>
          <p:nvPr/>
        </p:nvSpPr>
        <p:spPr>
          <a:xfrm>
            <a:off x="1225296" y="4032503"/>
            <a:ext cx="146304" cy="146304"/>
          </a:xfrm>
          <a:prstGeom prst="ellipse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7048" y="397763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02E"/>
                </a:solidFill>
                <a:latin typeface="Consolas"/>
              </a:rPr>
              <a:t>Similitud por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39776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2B5A5"/>
                </a:solidFill>
                <a:latin typeface="Consolas"/>
              </a:rPr>
              <a:t>0.71</a:t>
            </a:r>
          </a:p>
        </p:txBody>
      </p:sp>
      <p:sp>
        <p:nvSpPr>
          <p:cNvPr id="12" name="Oval 11"/>
          <p:cNvSpPr/>
          <p:nvPr/>
        </p:nvSpPr>
        <p:spPr>
          <a:xfrm>
            <a:off x="1225296" y="4416551"/>
            <a:ext cx="146304" cy="146304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4361688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02E"/>
                </a:solidFill>
                <a:latin typeface="Consolas"/>
              </a:rPr>
              <a:t>LLM-juez (1–5)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43616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6007E"/>
                </a:solidFill>
                <a:latin typeface="Consolas"/>
              </a:rPr>
              <a:t>3.4</a:t>
            </a:r>
          </a:p>
        </p:txBody>
      </p:sp>
      <p:sp>
        <p:nvSpPr>
          <p:cNvPr id="15" name="Oval 14"/>
          <p:cNvSpPr/>
          <p:nvPr/>
        </p:nvSpPr>
        <p:spPr>
          <a:xfrm>
            <a:off x="1225296" y="4800599"/>
            <a:ext cx="146304" cy="146304"/>
          </a:xfrm>
          <a:prstGeom prst="ellipse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7048" y="4745736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02E"/>
                </a:solidFill>
                <a:latin typeface="Consolas"/>
              </a:rPr>
              <a:t>Aciertos de dominio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474573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3A82"/>
                </a:solidFill>
                <a:latin typeface="Consolas"/>
              </a:rPr>
              <a:t>6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349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6B80"/>
                </a:solidFill>
                <a:latin typeface="Consolas"/>
              </a:rPr>
              <a:t>Este scorecard ES la entrega M2.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29 / 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75704"/>
            <a:ext cx="10713913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🔄  PUNTO DE SINCRONIZACIÓN · LAB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Al notebook — Lab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C21A"/>
                </a:solidFill>
                <a:latin typeface="Calibri"/>
              </a:rPr>
              <a:t>Armen el harness y el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9DB0C9"/>
                </a:solidFill>
                <a:latin typeface="Calibri"/>
              </a:rPr>
              <a:t>Juntan las 3 dimensiones en una función que recibe su eval set y su modelo, y produce el scorecard del baseline. Lo guardan en el repo. Esto es el corazón de M2.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937760"/>
            <a:ext cx="10509199" cy="914400"/>
          </a:xfrm>
          <a:prstGeom prst="roundRect">
            <a:avLst>
              <a:gd name="adj" fmla="val 10000"/>
            </a:avLst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4937760"/>
            <a:ext cx="97776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DFE7F2"/>
                </a:solidFill>
                <a:latin typeface="Consolas"/>
              </a:rPr>
              <a:t>harness(eval_set, modelo) → scorecard.csv   ·   entrega 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30 /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1083359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DE VUELTA DEL LAB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4202E"/>
                </a:solidFill>
                <a:latin typeface="Calibri"/>
              </a:rPr>
              <a:t>Resumen: lo que produjeron.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0509199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2724912"/>
            <a:ext cx="182880" cy="182880"/>
          </a:xfrm>
          <a:prstGeom prst="ellipse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2651760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Un harness reutilizable  </a:t>
            </a:r>
            <a:r>
              <a:rPr sz="1550" b="0">
                <a:solidFill>
                  <a:srgbClr val="5A6B80"/>
                </a:solidFill>
                <a:latin typeface="Calibri"/>
              </a:rPr>
              <a:t>la misma función evaluará su RAG (M3), su parte visual (M4) y producción (M5).</a:t>
            </a:r>
          </a:p>
        </p:txBody>
      </p:sp>
      <p:sp>
        <p:nvSpPr>
          <p:cNvPr id="8" name="Oval 7"/>
          <p:cNvSpPr/>
          <p:nvPr/>
        </p:nvSpPr>
        <p:spPr>
          <a:xfrm>
            <a:off x="1207008" y="3621024"/>
            <a:ext cx="182880" cy="182880"/>
          </a:xfrm>
          <a:prstGeom prst="ellipse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8488" y="3547872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Un scorecard del baseline  </a:t>
            </a:r>
            <a:r>
              <a:rPr sz="1550" b="0">
                <a:solidFill>
                  <a:srgbClr val="5A6B80"/>
                </a:solidFill>
                <a:latin typeface="Calibri"/>
              </a:rPr>
              <a:t>tres dimensiones, una lectura honesta de dónde falla hoy.</a:t>
            </a:r>
          </a:p>
        </p:txBody>
      </p:sp>
      <p:sp>
        <p:nvSpPr>
          <p:cNvPr id="10" name="Oval 9"/>
          <p:cNvSpPr/>
          <p:nvPr/>
        </p:nvSpPr>
        <p:spPr>
          <a:xfrm>
            <a:off x="1207008" y="4517136"/>
            <a:ext cx="182880" cy="1828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8488" y="4443983"/>
            <a:ext cx="9320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La vara del semestre  </a:t>
            </a:r>
            <a:r>
              <a:rPr sz="1550" b="0">
                <a:solidFill>
                  <a:srgbClr val="5A6B80"/>
                </a:solidFill>
                <a:latin typeface="Calibri"/>
              </a:rPr>
              <a:t>toda mejora futura se mide contra este número.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31 / 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11452804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6007E"/>
                </a:solidFill>
                <a:latin typeface="Consolas"/>
              </a:rPr>
              <a:t>ENTREGA M2 ·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60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202E"/>
                </a:solidFill>
                <a:latin typeface="Calibri"/>
              </a:rPr>
              <a:t>Lo que entregan (M2 · 10%).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10509199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" y="2606039"/>
            <a:ext cx="502920" cy="502920"/>
          </a:xfrm>
          <a:prstGeom prst="roundRect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6060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331720"/>
            <a:ext cx="93204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4202E"/>
                </a:solidFill>
                <a:latin typeface="Calibri"/>
              </a:rPr>
              <a:t>El harness ejecutable: 3 dimensiones sobre su eval set (≥10 gold + ≥2 adversariales).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520439"/>
            <a:ext cx="10509199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6" y="3794759"/>
            <a:ext cx="502920" cy="502920"/>
          </a:xfrm>
          <a:prstGeom prst="roundRect">
            <a:avLst/>
          </a:prstGeom>
          <a:solidFill>
            <a:srgbClr val="0B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79475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3520439"/>
            <a:ext cx="93204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4202E"/>
                </a:solidFill>
                <a:latin typeface="Calibri"/>
              </a:rPr>
              <a:t>El scorecard del baseline + un párrafo de lectura honesta de dónde falla.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09159"/>
            <a:ext cx="10509199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2416" y="4983479"/>
            <a:ext cx="502920" cy="502920"/>
          </a:xfrm>
          <a:prstGeom prst="round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9834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4709159"/>
            <a:ext cx="93204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4202E"/>
                </a:solidFill>
                <a:latin typeface="Calibri"/>
              </a:rPr>
              <a:t>README con la rúbrica del juez y una frase en lenguaje sencillo de qué evalúan.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916167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A6B80"/>
                </a:solidFill>
                <a:latin typeface="Consolas"/>
              </a:rPr>
              <a:t>Repo de GitHub a EAFIT Interactiva. La rúbrica completa está en el documento de la asignación.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80"/>
                </a:solidFill>
                <a:latin typeface="Consolas"/>
              </a:rPr>
              <a:t>32 / 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B80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1822249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1371600"/>
            <a:ext cx="7315200" cy="7315200"/>
          </a:xfrm>
          <a:prstGeom prst="ellipse">
            <a:avLst/>
          </a:prstGeom>
          <a:solidFill>
            <a:srgbClr val="162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C21A"/>
                </a:solidFill>
                <a:latin typeface="Consolas"/>
              </a:rPr>
              <a:t>CIERRE · 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Ya no preguntan “¿es bueno?”.</a:t>
            </a:r>
          </a:p>
          <a:p>
            <a:pPr algn="ctr">
              <a:lnSpc>
                <a:spcPct val="106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Ahora lo miden </a:t>
            </a:r>
            <a:r>
              <a:rPr sz="3600" b="1">
                <a:solidFill>
                  <a:srgbClr val="E6007E"/>
                </a:solidFill>
                <a:latin typeface="Calibri"/>
              </a:rPr>
              <a:t>con su propio harness.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9814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DFE7F2"/>
                </a:solidFill>
                <a:latin typeface="Calibri"/>
              </a:rPr>
              <a:t>Cierra el Módulo 2. El harness que hicieron hoy es la vara con la que medirán RAG, visión y producción el resto del semestre.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4572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33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DB0C9"/>
                </a:solidFill>
                <a:latin typeface="Consolas"/>
              </a:rPr>
              <a:t>SI4006 · UNIVERSIDAD EAFIT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